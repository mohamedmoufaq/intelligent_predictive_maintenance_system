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6187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Intelligent Predictive
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3EBEE"/>
                </a:solidFill>
                <a:latin typeface="Aptos"/>
              </a:rPr>
              <a:t>Machine Learning?Based Failure Prediction and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AI4I 2020 Predictive Maintenance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D3EBEE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34747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Operational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56816"/>
            <a:ext cx="303580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Unexpected equipment failures can cause downtime, repair expense, production loss, and safety concerns.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82296" cy="347472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6362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Maintenance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56816"/>
            <a:ext cx="303580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Reactive or time-based maintenance can either miss developing failures or cause unnecessary maintenance.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38328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82296" cy="3474720"/>
          </a:xfrm>
          <a:prstGeom prst="rect">
            <a:avLst/>
          </a:prstGeom>
          <a:solidFill>
            <a:srgbClr val="27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6362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Project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56816"/>
            <a:ext cx="303580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Use machine sensor readings to predict failure risk early and convert the result into an actionable maintenance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Predict machine failure from machine type and sensor readings.</a:t>
            </a:r>
          </a:p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Provide failure probability, risk score, and risk level.</a:t>
            </a:r>
          </a:p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Estimate a likely failure type using the AI4I failure-mode indicators.</a:t>
            </a:r>
          </a:p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Explain each prediction using actual local SHAP values.</a:t>
            </a:r>
          </a:p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Recommend maintenance action and compare expected failure loss with preventive maintenance cost.</a:t>
            </a:r>
          </a:p>
          <a:p>
            <a:pPr>
              <a:spcAft>
                <a:spcPts val="13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Deliver the system through a simple Streamlit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Dataset: AI4I 2020 predictive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3383280" cy="3977639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82296" cy="3977639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9616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Verified dataset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035808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? 10,000 rows
? 14 columns
? Main target: Machine failure
? Stored in Dataset/ai4i2020.csv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53312"/>
            <a:ext cx="3383280" cy="3977639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53312"/>
            <a:ext cx="82296" cy="397763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499616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Production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892807"/>
            <a:ext cx="3035808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? Type
? Air temperature [K]
? Process temperature [K]
? Rotational speed [rpm]
? Torque [Nm]
? Tool wear [min]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53312"/>
            <a:ext cx="3383280" cy="3977639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353312"/>
            <a:ext cx="82296" cy="3977639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9616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Failure-mode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3035808" cy="333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TWF, HDF, PWF, OSF, and RNF are used to construct the separate likely-failure-type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Data cleaning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reusable loader validates that required features, target, and failure-indicator columns are available.</a:t>
            </a:r>
          </a:p>
          <a:p>
            <a:pPr>
              <a:spcAft>
                <a:spcPts val="13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Cleaning removes duplicate rows and missing values.</a:t>
            </a:r>
          </a:p>
          <a:p>
            <a:pPr>
              <a:spcAft>
                <a:spcPts val="13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Machine failure is explicitly stored as an integer target.</a:t>
            </a:r>
          </a:p>
          <a:p>
            <a:pPr>
              <a:spcAft>
                <a:spcPts val="13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training pipeline writes the cleaned dataset to Output/cleaned_data.csv.</a:t>
            </a:r>
          </a:p>
          <a:p>
            <a:pPr>
              <a:spcAft>
                <a:spcPts val="13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This keeps training reproducible and avoids depending on notebook-only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Exploratory data analysis (EDA)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20640" cy="352044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352044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47731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Analysis performed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56816"/>
            <a:ext cx="4773168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Notebooks/03_EDA.ipynb contains multiple visual outputs. The notebook stage was used to understand sensor distributions and relationships before production pipeline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20640" cy="352044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82296" cy="352044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63624"/>
            <a:ext cx="47731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Submission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56816"/>
            <a:ext cx="4773168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The repository includes a valid production confusion-matrix image. Other image placeholders are empty, so this presentation does not add or claim unavailable EDA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Machine learning models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08760"/>
          <a:ext cx="96926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630936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Imbalance handling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class_weight = balanced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class_weight = balanced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class_weight = balanced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scale_pos_weight from training imbalance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70332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304E"/>
                </a:solidFill>
                <a:latin typeface="Aptos"/>
              </a:rPr>
              <a:t>Selection emphasizes recall-focused F2, then recall and precision ? not accuracy alone ? because missed failures are costly.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Model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353312"/>
          <a:ext cx="95097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737360"/>
                <a:gridCol w="173736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F2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0.847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0.774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0.972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0.55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0.738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0.706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0.673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0.846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0.90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0.694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0.884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B34"/>
                          </a:solidFill>
                          <a:latin typeface="Aptos"/>
                        </a:rP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3192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C6872"/>
                </a:solidFill>
                <a:latin typeface="Aptos"/>
              </a:rPr>
              <a:t>Metrics are taken from the current Output/evaluation_results.csv.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Why XGBoost was selected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4754880" cy="333756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82296" cy="333756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63624"/>
            <a:ext cx="44074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Verified production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440740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Recall: 84.7%
F2 score: 0.774
ROC-AUC: 0.972
XGBoost achieved the highest F2 score among the compared models.</a:t>
            </a:r>
          </a:p>
        </p:txBody>
      </p:sp>
      <p:pic>
        <p:nvPicPr>
          <p:cNvPr id="9" name="Picture 8" descr="produc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526280" cy="3621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919472"/>
            <a:ext cx="4526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C6872"/>
                </a:solidFill>
                <a:latin typeface="Aptos"/>
              </a:rPr>
              <a:t>Real output: production confusion matrix generated by current training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Decision threshold: 0.55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2304E"/>
                </a:solidFill>
                <a:latin typeface="Aptos"/>
              </a:rPr>
              <a:t>Predicted failure when probability ? 0.55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4754880" cy="228600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103120"/>
            <a:ext cx="82296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49424"/>
            <a:ext cx="44074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How it was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42615"/>
            <a:ext cx="44074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The training process evaluated candidate thresholds from 0.05 to 0.95 in 0.05 steps and selected the best recall-focused F2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103120"/>
            <a:ext cx="4754880" cy="228600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103120"/>
            <a:ext cx="82296" cy="228600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249424"/>
            <a:ext cx="44074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642615"/>
            <a:ext cx="44074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The threshold turns probability into a practical failure warning. It is stored with the deployed model metadata and is not changed by the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SHAP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333756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17320"/>
            <a:ext cx="82296" cy="3474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299008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User-entered machine type and sensor readings are processed by the same saved preprocessing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3756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417320"/>
            <a:ext cx="82296" cy="34747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56362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Actual SHAP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56816"/>
            <a:ext cx="299008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For the selected tree-based model, local SHAP values identify features that increased or reduced predicted failure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34747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82296" cy="347472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6362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Safe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56816"/>
            <a:ext cx="2990088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If local SHAP output is unavailable, the dashboard shows no explanation rather than generating a fake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Risk scoring and maintenance decision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25880"/>
          <a:ext cx="8686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429768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Risk score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Risk level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Current action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Below 25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Continue Monitoring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25 to below 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Schedule 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50 to below 75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Prepare Maintenance</a:t>
                      </a:r>
                    </a:p>
                  </a:txBody>
                  <a:tcPr anchor="ctr">
                    <a:solidFill>
                      <a:srgbClr val="EE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75 to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B34"/>
                          </a:solidFill>
                          <a:latin typeface="Aptos"/>
                        </a:rPr>
                        <a:t>Immediate 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379476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304E"/>
                </a:solidFill>
                <a:latin typeface="Aptos"/>
              </a:rPr>
              <a:t>Immediate Maintenance is also recommended when predicted failure probability reaches the current model threshold (0.55).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Streamlit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39319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39319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User 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65376"/>
            <a:ext cx="2990088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Machine Type
Air Temperature
Process Temperature
Rotational Speed
Torque
Tool Wear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25880"/>
            <a:ext cx="3337560" cy="39319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325880"/>
            <a:ext cx="82296" cy="3931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7218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System displays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65376"/>
            <a:ext cx="2990088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Failure class and probability
Risk score and level
Likely failure type
Local SHAP factors
Maintenance recommendation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37560" cy="39319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82296" cy="393192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72184"/>
            <a:ext cx="299008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Business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65376"/>
            <a:ext cx="2990088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Model threshold
Potential failure cost
Expected failure loss
Preventive maintenance cost
Business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872"/>
                </a:solidFill>
                <a:latin typeface="Aptos"/>
              </a:rPr>
              <a:t>No dashboard screenshot is embedded because no valid dashboard screenshot file is currently available in Images/.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Final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96596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196596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65376"/>
            <a:ext cx="30358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84.7%
Identifies a high proportion of actual failures in the current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25880"/>
            <a:ext cx="3383280" cy="196596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25880"/>
            <a:ext cx="82296" cy="1965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47218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F2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865376"/>
            <a:ext cx="30358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0.774
Recall-focused selection metric used for production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325880"/>
            <a:ext cx="3383280" cy="196596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325880"/>
            <a:ext cx="82296" cy="1965960"/>
          </a:xfrm>
          <a:prstGeom prst="rect">
            <a:avLst/>
          </a:prstGeom>
          <a:solidFill>
            <a:srgbClr val="27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472184"/>
            <a:ext cx="303580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865376"/>
            <a:ext cx="30358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0.972
Strong discrimination in the current held-out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304E"/>
                </a:solidFill>
                <a:latin typeface="Aptos"/>
              </a:rPr>
              <a:t>The project connects failure prediction with failure type, actual SHAP explanations, risk scoring, maintenance recommendations, and cost-aware decision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872"/>
                </a:solidFill>
                <a:latin typeface="Aptos"/>
              </a:rPr>
              <a:t>Intelligent Predictive Maintenance System  |  AI4I 2020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304E"/>
                </a:solidFill>
                <a:latin typeface="Aptos"/>
              </a:rPr>
              <a:t>Conclusion and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41605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41605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91032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65376"/>
            <a:ext cx="4910328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A complete college/internship-level predictive maintenance workflow is implemented: validated data loading, shared preprocessing, imbalance-aware model comparison, saved production models, explainable prediction, risk scoring, business decisions, and a Streamlit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25880"/>
            <a:ext cx="5257800" cy="4160520"/>
          </a:xfrm>
          <a:prstGeom prst="roundRect">
            <a:avLst/>
          </a:prstGeom>
          <a:solidFill>
            <a:srgbClr val="EE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325880"/>
            <a:ext cx="82296" cy="4160520"/>
          </a:xfrm>
          <a:prstGeom prst="rect">
            <a:avLst/>
          </a:prstGeom>
          <a:solidFill>
            <a:srgbClr val="D6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72184"/>
            <a:ext cx="491032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304E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65376"/>
            <a:ext cx="4910328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? Validate with additional industrial data
? Add sensor-history trends and alerts
? Use organization-specific cost values
? Add model monitoring and prediction logging
? Include real dashboard screenshots and remaining EDA exports in the final submission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